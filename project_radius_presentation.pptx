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4114800" cy="73152"/>
          </a:xfrm>
          <a:prstGeom prst="rect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48840"/>
            <a:ext cx="1828800" cy="36576"/>
          </a:xfrm>
          <a:prstGeom prst="rect">
            <a:avLst/>
          </a:prstGeom>
          <a:solidFill>
            <a:srgbClr val="35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400" b="1">
                <a:solidFill>
                  <a:srgbClr val="F79008"/>
                </a:solidFill>
                <a:latin typeface="Trebuchet MS"/>
              </a:defRPr>
            </a:pPr>
            <a:r>
              <a:t>PROJECT RADIUS</a:t>
            </a:r>
          </a:p>
          <a:p>
            <a:pPr>
              <a:spcBef>
                <a:spcPts val="800"/>
              </a:spcBef>
              <a:defRPr sz="2000">
                <a:solidFill>
                  <a:srgbClr val="35B9EB"/>
                </a:solidFill>
                <a:latin typeface="Arial"/>
              </a:defRPr>
            </a:pPr>
            <a:r>
              <a:t>High-Performance C-Engine for Real-Time Wavefront Reconstruction &amp; Turbulence Characterization</a:t>
            </a:r>
          </a:p>
          <a:p>
            <a:pPr>
              <a:spcBef>
                <a:spcPts val="3600"/>
              </a:spcBef>
              <a:defRPr sz="1400">
                <a:solidFill>
                  <a:srgbClr val="98A2B3"/>
                </a:solidFill>
                <a:latin typeface="Arial"/>
              </a:defRPr>
            </a:pPr>
            <a:r>
              <a:t>System Architect: Deeven Seru  |  Widescreen POSIX-compliant C/Python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The Atmospheric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Physical optical disturbances and hardware systems correction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Physical Optical Turbulence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Index of refraction fluctuations in atmospheric layers distort plane-parallel light wavefronts.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Causes severe beam wander, focal blur, and communication phase errors.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Fried Parameter (r0): Defines transverse coherence diameter of the incoming wavefront (typically 5-20 cm).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Coherence Time (tau0): Characteristic timeframe over which turbulence structures evolve (typically 2-10 ms).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Systems Engineering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The 10 ms Real-Time Deadline: Command loop must run faster than tau0 to achieve high Strehl corrections.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High-speed Shack-Hartmann Sensors (WFS): Capture frames at 1000 Hz with minimal readout overhead.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Software OS Latency: Standard operating systems and high-level languages introduce non-deterministic garbage collection delays.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Real-Time Constraint: C-Engine is required to perform deterministic sub-millisecond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10820095" cy="100584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F79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 bIns="109728"/>
          <a:lstStyle/>
          <a:p>
            <a:pPr algn="ctr">
              <a:defRPr sz="1400" b="1">
                <a:solidFill>
                  <a:srgbClr val="F79008"/>
                </a:solidFill>
                <a:latin typeface="Trebuchet MS"/>
              </a:defRPr>
            </a:pPr>
            <a:r>
              <a:t>Physical Loop Constraint: </a:t>
            </a:r>
            <a:r>
              <a:rPr sz="1300" b="0">
                <a:solidFill>
                  <a:srgbClr val="F2F4F7"/>
                </a:solidFill>
                <a:latin typeface="Arial"/>
              </a:rPr>
              <a:t>The coherence time tau0 sets a strict 10 ms upper boundary. Loop latency must remain sub-millisecond (&lt;1.0 ms) to prevent control lag and correct higher-order aberrations.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Scientific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First-principles physical modeling of wavefront sensing and deformable mirror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Wavefront Sensing (SH-WFS)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Microlens Array (MLA) divides the incoming pupil wavefront into individual focal spots.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Local wavefront tilt causes spot displacements on the camera sensor pixel array.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Centroid coordinate offsets calculate the wavefront gradient.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Gradient Vector (S): 632 coordinates (316 valid circular aperture subapertures in X and Y directions).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Reconstruction &amp; Actuation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Zernike Polynomials (Noll 1976): Circular-pupil orthogonal modes mapping physical aberrations (Z2 to Z55).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Control Matrix G+: Relates slope vectors to Zernike modes and DM actuator commands via Least-Squares regression.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Deformable Mirror (DM): 357 actuators adjust facesheet shape using inter-actuator coupling coefficients.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Wavefront Phase Phi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Distorted incoming wavefront</a:t>
            </a:r>
            <a:br/>
            <a:r>
              <a:t>(Fried parameter r0)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11780" y="4389120"/>
            <a:ext cx="457200" cy="274320"/>
          </a:xfrm>
          <a:prstGeom prst="rightArrow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Subaperture Gradients (S)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MLA subdivisions: 316 local</a:t>
            </a:r>
            <a:br/>
            <a:r>
              <a:t>tilt displacements in X &amp; 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09260" y="4389120"/>
            <a:ext cx="457200" cy="274320"/>
          </a:xfrm>
          <a:prstGeom prst="rightArrow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Zernike Modes (a)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Expansion over circular pupil:</a:t>
            </a:r>
            <a:br/>
            <a:r>
              <a:t>55 modes (Z2 to Z55)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06740" y="4389120"/>
            <a:ext cx="457200" cy="274320"/>
          </a:xfrm>
          <a:prstGeom prst="rightArrow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Actuator Voltages (V)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MVM reconstruction: V = G+ * S</a:t>
            </a:r>
            <a:br/>
            <a:r>
              <a:t>mapping to 357 DM actuators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Software Architecture: The C-Engine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Bare-metal latency and zero-copy pipeline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Optimized C Execution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Centroiding and Matrix-Vector Multiplication (MVM) are implemented in pure POSIX C (c_engine.so).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Pre-allocated static structs (geometry.h) eliminate real-time heap allocation overhead.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Compilation optimized for AVX2 vector registers to process centroids and MVM in parallel.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Total pipeline execution time: 0.31 ms (enabling &gt;3000 Hz loop frequencies).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Zero-Copy Ctypes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Python handles non-real-time orchestration, file IO, and statistics compilation.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ctypes bridge passes raw camera buffer memory addresses directly to C structures.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Avoids intermediate data copies, maintaining maximum CPU cache locality.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Ensures deterministic processing, avoiding standard operating system thread scheduling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Acquisition HAL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GenTL / RAM Cache</a:t>
            </a:r>
            <a:br/>
            <a:r>
              <a:t>Zero-copy buffer access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11780" y="4389120"/>
            <a:ext cx="457200" cy="274320"/>
          </a:xfrm>
          <a:prstGeom prst="rightArrow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slopes.c (C)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Center of Gravity (CoG)</a:t>
            </a:r>
            <a:br/>
            <a:r>
              <a:t>632 X/Y Slope Vectors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09260" y="4389120"/>
            <a:ext cx="457200" cy="274320"/>
          </a:xfrm>
          <a:prstGeom prst="rightArrow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reconstruction.c (C)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Matrix Multiplication</a:t>
            </a:r>
            <a:br/>
            <a:r>
              <a:t>55 Zernike Modes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06740" y="4389120"/>
            <a:ext cx="457200" cy="274320"/>
          </a:xfrm>
          <a:prstGeom prst="rightArrow">
            <a:avLst/>
          </a:prstGeom>
          <a:solidFill>
            <a:srgbClr val="F79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3931920"/>
            <a:ext cx="201168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200" b="1">
                <a:solidFill>
                  <a:srgbClr val="F79008"/>
                </a:solidFill>
                <a:latin typeface="Trebuchet MS"/>
              </a:defRPr>
            </a:pPr>
            <a:r>
              <a:t>dm_coupling.csv (C)</a:t>
            </a:r>
          </a:p>
          <a:p>
            <a:pPr algn="ctr">
              <a:spcBef>
                <a:spcPts val="500"/>
              </a:spcBef>
              <a:defRPr sz="950">
                <a:solidFill>
                  <a:srgbClr val="F2F4F7"/>
                </a:solidFill>
                <a:latin typeface="Arial"/>
              </a:defRPr>
            </a:pPr>
            <a:r>
              <a:t>Inter-actuator Matrix</a:t>
            </a:r>
            <a:br/>
            <a:r>
              <a:t>357 DM Actuator Volts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Live Camera &amp; HAL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Hardware Abstraction Layer for lab simulations and observatory cameras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Acquisition HAL (camera_interface.py)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Abstracts frame grabber operations behind a standardized, pluggable class interface.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Simulated Mode: Generates synthetic Shack-Hartmann spot arrays using physical optics math.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Playback Mode: Pre-loads experimental datasets directly into RAM for high-speed playback.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Hardware Mode: Integrates with physical GenICam / Camera Link cameras.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EMVA GenICam &amp; GenTL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Uses the Harvesters framework to load manufacturer .cti (GenTL) driver libraries.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Supports CoaXPress, GigE Vision, USB3 Vision, and Camera Link frame grabbers.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Bypasses standard python buffer allocations by copying DMA memory straight to the C-Engine.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Compatible with professional cameras from Basler, Euresys, Active Silicon, and FLIR.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310896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300" b="1">
                <a:solidFill>
                  <a:srgbClr val="F79008"/>
                </a:solidFill>
                <a:latin typeface="Trebuchet MS"/>
              </a:defRPr>
            </a:pPr>
            <a:r>
              <a:t>Simulated Mode (1000 Hz)</a:t>
            </a:r>
          </a:p>
          <a:p>
            <a:pPr algn="ctr">
              <a:spcBef>
                <a:spcPts val="500"/>
              </a:spcBef>
              <a:defRPr sz="1000">
                <a:solidFill>
                  <a:srgbClr val="F2F4F7"/>
                </a:solidFill>
                <a:latin typeface="Arial"/>
              </a:defRPr>
            </a:pPr>
            <a:r>
              <a:t>Runs background physical optics simulation inside camera_interface.py. Populates dummy frame buffers via light propagation equations.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931920"/>
            <a:ext cx="310896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300" b="1">
                <a:solidFill>
                  <a:srgbClr val="F79008"/>
                </a:solidFill>
                <a:latin typeface="Trebuchet MS"/>
              </a:defRPr>
            </a:pPr>
            <a:r>
              <a:t>Playback Mode (Disk-Free)</a:t>
            </a:r>
          </a:p>
          <a:p>
            <a:pPr algn="ctr">
              <a:spcBef>
                <a:spcPts val="500"/>
              </a:spcBef>
              <a:defRPr sz="1000">
                <a:solidFill>
                  <a:srgbClr val="F2F4F7"/>
                </a:solidFill>
                <a:latin typeface="Arial"/>
              </a:defRPr>
            </a:pPr>
            <a:r>
              <a:t>Pre-loads optical dataset frames directly into RAM. Feeds buffers in a thread loop, removing disk I/O bottlenecks to test C-Engine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931920"/>
            <a:ext cx="3108960" cy="118872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35B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 bIns="73152"/>
          <a:lstStyle/>
          <a:p>
            <a:pPr algn="ctr">
              <a:defRPr sz="1300" b="1">
                <a:solidFill>
                  <a:srgbClr val="F79008"/>
                </a:solidFill>
                <a:latin typeface="Trebuchet MS"/>
              </a:defRPr>
            </a:pPr>
            <a:r>
              <a:t>Hardware Mode (GenICam)</a:t>
            </a:r>
          </a:p>
          <a:p>
            <a:pPr algn="ctr">
              <a:spcBef>
                <a:spcPts val="500"/>
              </a:spcBef>
              <a:defRPr sz="1000">
                <a:solidFill>
                  <a:srgbClr val="F2F4F7"/>
                </a:solidFill>
                <a:latin typeface="Arial"/>
              </a:defRPr>
            </a:pPr>
            <a:r>
              <a:t>Uses EMVA standard harvesters interface to link live Camera Link or CoaXPress hardware using manufacturer-provided .cti drivers.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Results &amp; Achievements (55 Zernike Modes)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Performance metrics under 1000 Hz playback loop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  <a:gridCol w="259049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B101B"/>
                          </a:solidFill>
                          <a:latin typeface="Trebuchet M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790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B101B"/>
                          </a:solidFill>
                          <a:latin typeface="Trebuchet MS"/>
                        </a:defRPr>
                      </a:pPr>
                      <a:r>
                        <a:t>Target Requirement</a:t>
                      </a:r>
                    </a:p>
                  </a:txBody>
                  <a:tcPr>
                    <a:solidFill>
                      <a:srgbClr val="F790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B101B"/>
                          </a:solidFill>
                          <a:latin typeface="Trebuchet MS"/>
                        </a:defRPr>
                      </a:pPr>
                      <a:r>
                        <a:t>Achieved (55 Modes)</a:t>
                      </a:r>
                    </a:p>
                  </a:txBody>
                  <a:tcPr>
                    <a:solidFill>
                      <a:srgbClr val="F790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B101B"/>
                          </a:solidFill>
                          <a:latin typeface="Trebuchet M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7900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End-to-End Processing Latency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&lt; 10.00 ms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0.309 ms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5B9EB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Average Closed-Loop Rate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1000 Hz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998.05 Hz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5B9EB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Average Per-Frame Spatial Accuracy (R²)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&gt; 95.00%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99.4857%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5B9EB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Absolute Global Temporal Accuracy (R²)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&gt; 95.00%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98.6009%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5B9EB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Reconstruction Mean Square Error (MSE)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&lt; 0.1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1.14e-15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5B9EB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Reconstructed Strehl Ratio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Maximize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2F4F7"/>
                          </a:solidFill>
                          <a:latin typeface="Arial"/>
                        </a:defRPr>
                      </a:pPr>
                      <a:r>
                        <a:t>93.26% – 96.76%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5B9EB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61D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8A2B3"/>
                </a:solidFill>
                <a:latin typeface="Arial"/>
              </a:defRPr>
            </a:pPr>
            <a:r>
              <a:t>Note: Tests conducted on a multi-threaded 1000 Hz frame stream using pre-loaded experimental calibration configurations.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Unbiased Robustness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Quantifying closed-loop performance degradation under physical noise and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Noise Sensitivities (Photon vs Readout)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Photon Noise: Highly Robust. The modal Zernike reconstructor acts as a spatial low-pass filter, preserving 99.14% R² at 200 photons/subaperture/frame.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Readout Noise (RON): High Sensitivity. Background pixel noise shifts Center of Gravity (CoG) measurements toward the subaperture center.</a:t>
            </a:r>
          </a:p>
          <a:p>
            <a:pPr lvl="1">
              <a:spcAft>
                <a:spcPts val="800"/>
              </a:spcAft>
              <a:defRPr sz="1300">
                <a:solidFill>
                  <a:srgbClr val="98A2B3"/>
                </a:solidFill>
                <a:latin typeface="Arial"/>
              </a:defRPr>
            </a:pPr>
            <a:r>
              <a:t>  • At 1000 photons/subap, R² degrades to 97.80% under 1.0 e- RON (sCMOS) and drops to 75.29% under 5.0 e- RON (CCD).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Alignment Drift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Lenslet Spot Field Drift: Extreme Sensitivity.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A uniform alignment shift of just 0.05 pixels reduces R² to 59.65%; shifts of &gt;=0.10 pixels collapse the loop entirely.</a:t>
            </a:r>
          </a:p>
          <a:p>
            <a:pPr lvl="1">
              <a:spcAft>
                <a:spcPts val="800"/>
              </a:spcAft>
              <a:defRPr sz="1300">
                <a:solidFill>
                  <a:srgbClr val="98A2B3"/>
                </a:solidFill>
                <a:latin typeface="Arial"/>
              </a:defRPr>
            </a:pPr>
            <a:r>
              <a:t>  • Uniform spot shifts are mathematically reconstructed as a large artificial Tip/Tilt error, driving the DM actuators to their physical limits.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Mitigation: Requires real-time reference slope updates and active Tip/Tilt mirror path stabilization.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10820095" cy="100584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F79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 bIns="109728"/>
          <a:lstStyle/>
          <a:p>
            <a:pPr algn="ctr">
              <a:defRPr sz="1400" b="1">
                <a:solidFill>
                  <a:srgbClr val="F79008"/>
                </a:solidFill>
                <a:latin typeface="Trebuchet MS"/>
              </a:defRPr>
            </a:pPr>
            <a:r>
              <a:t>Robustness Summary: </a:t>
            </a:r>
            <a:r>
              <a:rPr sz="1300" b="0">
                <a:solidFill>
                  <a:srgbClr val="F2F4F7"/>
                </a:solidFill>
                <a:latin typeface="Arial"/>
              </a:rPr>
              <a:t>While photon noise is naturally smoothed by Zernike reconstruction, high readout noise and subpixel spot drift are critical loop failure vectors that require active background thresholding and tip/tilt alignment stabilization.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Space Agency (ISRO) Cost-Benefit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Analyzing economic and technical value for satellite ground stations and observatories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Drastic Hardware Cost Reductions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Proprietary RTC Hardware Bypass: Eliminates the need for expensive custom FPGA/ASIC real-time controllers (saving $100k+ per observatory installation).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Commodity COTS Servers: Runs on standard x86_64 or ARM64 Linux servers. The sub-millisecond C-Engine execution leaves CPU capacity free for other systems.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Open Source Ecosystem: Built using free, modular components (POSIX, Python, ctypes), eliminating annual software licensing fees.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Scalability &amp; Standards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Zernike Mode Scaling: Successfully validated scaling from 20 to 55 modes, capturing high-order turbulence details without latency penalties.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Universal Camera Compatibility: Full compliance with the EMVA GenICam standard ensures interoperability with any CoaXPress/GigE camera.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Ground Station Integration: Portable C-library structure simplifies integration into satellite communications and tracking controllers.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10820095" cy="100584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F79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 bIns="109728"/>
          <a:lstStyle/>
          <a:p>
            <a:pPr algn="ctr">
              <a:defRPr sz="1400" b="1">
                <a:solidFill>
                  <a:srgbClr val="F79008"/>
                </a:solidFill>
                <a:latin typeface="Trebuchet MS"/>
              </a:defRPr>
            </a:pPr>
            <a:r>
              <a:t>Strategic Value: </a:t>
            </a:r>
            <a:r>
              <a:rPr sz="1300" b="0">
                <a:solidFill>
                  <a:srgbClr val="F2F4F7"/>
                </a:solidFill>
                <a:latin typeface="Arial"/>
              </a:rPr>
              <a:t>Project Radius proves that high-order (55-mode) adaptive optics RTC pipelines can run on standard POSIX systems. This slashes developmental and hardware costs while ensuring scalability to larger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79008"/>
                </a:solidFill>
                <a:latin typeface="Trebuchet MS"/>
              </a:defRPr>
            </a:pPr>
            <a:r>
              <a:t>Future Work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35B9EB"/>
                </a:solidFill>
                <a:latin typeface="Arial"/>
              </a:defRPr>
            </a:pPr>
            <a:r>
              <a:t>Scaling adaptive optics reconstruction to the next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Technical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Closed-Loop Control Integration: Implement PI (Proportional-Integral) loop filters to dynamically command Deformable Mirrors.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Dynamic Centroid Thresholding: Add adaptive background subtraction to centroid computations to completely reject read noise (RON).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OpenMP Multi-Core Scaling: Parallelize the Matrix-Vector Multiplication (MVM) loop to support high-density subaperture grids (e.g. 80x80).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5B9EB"/>
                </a:solidFill>
                <a:latin typeface="Trebuchet MS"/>
              </a:defRPr>
            </a:pPr>
            <a:r>
              <a:t>Key Project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828800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Elite Performance: 0.31 ms loop latency matches dedicated hardware real-time controller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High Accuracy: 99.49% spatial R² and 98.60% temporal accuracy confirm the precision of the 55-Zernike-mode engine.</a:t>
            </a:r>
          </a:p>
          <a:p>
            <a:pPr>
              <a:spcAft>
                <a:spcPts val="800"/>
              </a:spcAft>
              <a:defRPr sz="1400">
                <a:solidFill>
                  <a:srgbClr val="F2F4F7"/>
                </a:solidFill>
                <a:latin typeface="Arial"/>
              </a:defRPr>
            </a:pPr>
            <a:r>
              <a:t>Production Ready: Modular architecture ready for laboratory and observatory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10820095" cy="1005840"/>
          </a:xfrm>
          <a:prstGeom prst="roundRect">
            <a:avLst/>
          </a:prstGeom>
          <a:solidFill>
            <a:srgbClr val="161D2D"/>
          </a:solidFill>
          <a:ln w="19050">
            <a:solidFill>
              <a:srgbClr val="F79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 bIns="109728"/>
          <a:lstStyle/>
          <a:p>
            <a:pPr algn="ctr">
              <a:defRPr sz="1400" b="1">
                <a:solidFill>
                  <a:srgbClr val="F79008"/>
                </a:solidFill>
                <a:latin typeface="Trebuchet MS"/>
              </a:defRPr>
            </a:pPr>
            <a:r>
              <a:t>Conclusion: </a:t>
            </a:r>
            <a:r>
              <a:rPr sz="1300" b="0">
                <a:solidFill>
                  <a:srgbClr val="F2F4F7"/>
                </a:solidFill>
                <a:latin typeface="Arial"/>
              </a:rPr>
              <a:t>Project Radius provides a high-performance, open-standard, low-latency foundation for real-time wavefront reconstruction, suitable for space agency ground stations and astronomical observatories.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